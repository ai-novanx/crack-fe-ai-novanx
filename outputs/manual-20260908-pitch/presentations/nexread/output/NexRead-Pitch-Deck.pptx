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D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42"/>
    <p:restoredTop sz="94624"/>
  </p:normalViewPr>
  <p:slideViewPr>
    <p:cSldViewPr snapToGrid="0">
      <p:cViewPr varScale="1">
        <p:scale>
          <a:sx n="156" d="100"/>
          <a:sy n="156" d="100"/>
        </p:scale>
        <p:origin x="1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878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nexread.ai-novanx.online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Revou-FSSE-Feb26/crack-be-AI-NovaNX" TargetMode="External"/><Relationship Id="rId5" Type="http://schemas.openxmlformats.org/officeDocument/2006/relationships/hyperlink" Target="https://crack-be-ai-novanx-staging.up.railway.app/api#/Reviews/BookReviewsController_findByBook" TargetMode="External"/><Relationship Id="rId4" Type="http://schemas.openxmlformats.org/officeDocument/2006/relationships/hyperlink" Target="https://github.com/Revou-FSSE-Feb26/crack-fe-AI-NovaN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icker-marker">
            <a:extLst>
              <a:ext uri="{FF2B5EF4-FFF2-40B4-BE49-F238E27FC236}">
                <a16:creationId xmlns:a16="http://schemas.microsoft.com/office/drawing/2014/main" id="{0C1040F5-5F3B-4F00-ACB0-A88D4F29A8A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5FAE8B1D-9F5E-4A26-8FA9-51C53ED63D08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rPr dirty="0"/>
              <a:t>PITCH DECK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C592222A-F5A9-4F25-BC07-593684778219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380755D8-23C8-41DB-A765-90D9C700571D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01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F27B5678-FF04-4965-80FC-C66C6256B673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8397039-5B02-471F-8880-B6045B9D69A1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10096500" cy="109537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72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NexRead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0DA96D5-7E1A-4F09-A575-4E0DE64921D7}"/>
              </a:ext>
            </a:extLst>
          </p:cNvPr>
          <p:cNvSpPr>
            <a:spLocks noGrp="1"/>
          </p:cNvSpPr>
          <p:nvPr/>
        </p:nvSpPr>
        <p:spPr>
          <a:xfrm>
            <a:off x="666750" y="2705100"/>
            <a:ext cx="8382000" cy="952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70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Perpustakaan</a:t>
            </a:r>
            <a:r>
              <a:rPr dirty="0"/>
              <a:t> digital yang </a:t>
            </a:r>
            <a:r>
              <a:rPr dirty="0" err="1"/>
              <a:t>membuat</a:t>
            </a:r>
            <a:r>
              <a:rPr dirty="0"/>
              <a:t> </a:t>
            </a:r>
            <a:r>
              <a:rPr dirty="0" err="1"/>
              <a:t>membaca</a:t>
            </a:r>
            <a:r>
              <a:rPr dirty="0"/>
              <a:t> </a:t>
            </a:r>
            <a:r>
              <a:rPr dirty="0" err="1"/>
              <a:t>lebih</a:t>
            </a:r>
            <a:r>
              <a:rPr dirty="0"/>
              <a:t> </a:t>
            </a:r>
            <a:r>
              <a:rPr dirty="0" err="1"/>
              <a:t>mudah</a:t>
            </a:r>
            <a:endParaRPr dirty="0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CE4C9E90-EE12-49A7-BFB8-C0A34CF71B8C}"/>
              </a:ext>
            </a:extLst>
          </p:cNvPr>
          <p:cNvSpPr>
            <a:spLocks noGrp="1"/>
          </p:cNvSpPr>
          <p:nvPr/>
        </p:nvSpPr>
        <p:spPr>
          <a:xfrm>
            <a:off x="666750" y="3952875"/>
            <a:ext cx="7905750" cy="71437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95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Temukan</a:t>
            </a:r>
            <a:r>
              <a:rPr dirty="0"/>
              <a:t>, </a:t>
            </a:r>
            <a:r>
              <a:rPr dirty="0" err="1"/>
              <a:t>simpan</a:t>
            </a:r>
            <a:r>
              <a:rPr dirty="0"/>
              <a:t>, </a:t>
            </a:r>
            <a:r>
              <a:rPr dirty="0" err="1"/>
              <a:t>pinjam</a:t>
            </a:r>
            <a:r>
              <a:rPr dirty="0"/>
              <a:t>, dan </a:t>
            </a:r>
            <a:r>
              <a:rPr dirty="0" err="1"/>
              <a:t>kelola</a:t>
            </a:r>
            <a:r>
              <a:rPr dirty="0"/>
              <a:t> </a:t>
            </a:r>
            <a:r>
              <a:rPr dirty="0" err="1"/>
              <a:t>buku</a:t>
            </a:r>
            <a:r>
              <a:rPr dirty="0"/>
              <a:t> </a:t>
            </a:r>
            <a:r>
              <a:rPr dirty="0" err="1"/>
              <a:t>dalam</a:t>
            </a:r>
            <a:r>
              <a:rPr dirty="0"/>
              <a:t> </a:t>
            </a:r>
            <a:r>
              <a:rPr dirty="0" err="1"/>
              <a:t>satu</a:t>
            </a:r>
            <a:r>
              <a:rPr dirty="0"/>
              <a:t> </a:t>
            </a:r>
            <a:r>
              <a:rPr dirty="0" err="1"/>
              <a:t>aplikasi</a:t>
            </a:r>
            <a:endParaRPr dirty="0"/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7645DCA-FEAF-4085-B9C0-82E26D027F57}"/>
              </a:ext>
            </a:extLst>
          </p:cNvPr>
          <p:cNvSpPr>
            <a:spLocks noGrp="1"/>
          </p:cNvSpPr>
          <p:nvPr/>
        </p:nvSpPr>
        <p:spPr>
          <a:xfrm>
            <a:off x="666750" y="5238750"/>
            <a:ext cx="10001250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Membaca lebih praktis, terarah, dan menyenangkan</a:t>
            </a:r>
          </a:p>
        </p:txBody>
      </p:sp>
    </p:spTree>
    <p:extLst>
      <p:ext uri="{BB962C8B-B14F-4D97-AF65-F5344CB8AC3E}">
        <p14:creationId xmlns:p14="http://schemas.microsoft.com/office/powerpoint/2010/main" val="68748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kicker-marker">
            <a:extLst>
              <a:ext uri="{FF2B5EF4-FFF2-40B4-BE49-F238E27FC236}">
                <a16:creationId xmlns:a16="http://schemas.microsoft.com/office/drawing/2014/main" id="{66165D1B-1DC1-438D-8A82-DEF1247BDDFC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28C12EF5-2AD1-457E-A5DA-08B002F9A879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LATAR BELAKANG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47A2920C-C626-410B-96D9-7EE89879F210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93702FCA-1936-4130-83AD-4E9324FB3515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02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3C613FF6-57B5-47CB-8561-E0CA2B547D83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0E4FF63-CB1F-4046-8898-6C1FF061AD4C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Keinginan membaca perlu didukung pengalaman yang terintegrasi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42EA834-0DB2-488B-8FF5-FD43841AE270}"/>
              </a:ext>
            </a:extLst>
          </p:cNvPr>
          <p:cNvSpPr>
            <a:spLocks noGrp="1"/>
          </p:cNvSpPr>
          <p:nvPr/>
        </p:nvSpPr>
        <p:spPr>
          <a:xfrm>
            <a:off x="609600" y="2571750"/>
            <a:ext cx="4381500" cy="25717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52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Ingin membaca. Butuh cara yang lebih mudah.</a:t>
            </a:r>
          </a:p>
        </p:txBody>
      </p:sp>
      <p:sp>
        <p:nvSpPr>
          <p:cNvPr id="8" name="rule">
            <a:extLst>
              <a:ext uri="{FF2B5EF4-FFF2-40B4-BE49-F238E27FC236}">
                <a16:creationId xmlns:a16="http://schemas.microsoft.com/office/drawing/2014/main" id="{96493DCF-F31D-4F0F-B408-C0F91F68DDDF}"/>
              </a:ext>
            </a:extLst>
          </p:cNvPr>
          <p:cNvSpPr>
            <a:spLocks noGrp="1"/>
          </p:cNvSpPr>
          <p:nvPr/>
        </p:nvSpPr>
        <p:spPr>
          <a:xfrm>
            <a:off x="5219700" y="2505075"/>
            <a:ext cx="19050" cy="300037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9FE303BA-296E-4F63-B05F-0304F62C5C2E}"/>
              </a:ext>
            </a:extLst>
          </p:cNvPr>
          <p:cNvSpPr>
            <a:spLocks noGrp="1"/>
          </p:cNvSpPr>
          <p:nvPr/>
        </p:nvSpPr>
        <p:spPr>
          <a:xfrm>
            <a:off x="5619750" y="2495550"/>
            <a:ext cx="5810250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Menemukan buku yang sesuai masih menjadi tantangan.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47F3A83-875E-45AF-B98C-82A891FE2522}"/>
              </a:ext>
            </a:extLst>
          </p:cNvPr>
          <p:cNvSpPr>
            <a:spLocks noGrp="1"/>
          </p:cNvSpPr>
          <p:nvPr/>
        </p:nvSpPr>
        <p:spPr>
          <a:xfrm>
            <a:off x="5619750" y="3286125"/>
            <a:ext cx="5810250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Proses peminjaman terasa manual dan kurang praktis.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FC73D36D-9F4A-41F8-A13F-87A27831F15D}"/>
              </a:ext>
            </a:extLst>
          </p:cNvPr>
          <p:cNvSpPr>
            <a:spLocks noGrp="1"/>
          </p:cNvSpPr>
          <p:nvPr/>
        </p:nvSpPr>
        <p:spPr>
          <a:xfrm>
            <a:off x="5619750" y="4076700"/>
            <a:ext cx="5810250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Riwayat buku yang dipinjam belum terdokumentasi dengan baik.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6F7B3DE7-EB66-4520-8D6A-AE4F87E4521E}"/>
              </a:ext>
            </a:extLst>
          </p:cNvPr>
          <p:cNvSpPr>
            <a:spLocks noGrp="1"/>
          </p:cNvSpPr>
          <p:nvPr/>
        </p:nvSpPr>
        <p:spPr>
          <a:xfrm>
            <a:off x="5619750" y="4867275"/>
            <a:ext cx="5810250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Pengguna membutuhkan pengalaman membaca yang lebih terintegrasi.</a:t>
            </a:r>
          </a:p>
        </p:txBody>
      </p:sp>
    </p:spTree>
    <p:extLst>
      <p:ext uri="{BB962C8B-B14F-4D97-AF65-F5344CB8AC3E}">
        <p14:creationId xmlns:p14="http://schemas.microsoft.com/office/powerpoint/2010/main" val="1929963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kicker-marker">
            <a:extLst>
              <a:ext uri="{FF2B5EF4-FFF2-40B4-BE49-F238E27FC236}">
                <a16:creationId xmlns:a16="http://schemas.microsoft.com/office/drawing/2014/main" id="{D532C792-838E-4631-89DD-A8D65DA50F7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92B97C03-4F2E-4884-ADFD-FC1A1B113DD7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PERMASALAHAN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11E4B40B-3C1A-4333-9B1F-452103AC6470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B5606E9-971D-452D-B307-D80DF66176D6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03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8F09D0A4-84A9-4E8A-89A0-78C6ECC2045C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DEAD68A-9617-4741-BC7C-6A5F32614AD6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Dari mencari hingga mengembalikan, masih ada hambatan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52BE5E61-A5B9-4D13-A39F-6654AB6DBB7B}"/>
              </a:ext>
            </a:extLst>
          </p:cNvPr>
          <p:cNvSpPr>
            <a:spLocks noGrp="1"/>
          </p:cNvSpPr>
          <p:nvPr/>
        </p:nvSpPr>
        <p:spPr>
          <a:xfrm>
            <a:off x="609600" y="2400300"/>
            <a:ext cx="666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BB2C023C-2FD7-4875-834E-DCA3E51ED022}"/>
              </a:ext>
            </a:extLst>
          </p:cNvPr>
          <p:cNvSpPr>
            <a:spLocks noGrp="1"/>
          </p:cNvSpPr>
          <p:nvPr/>
        </p:nvSpPr>
        <p:spPr>
          <a:xfrm>
            <a:off x="1524000" y="2400300"/>
            <a:ext cx="9810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Pencarian buku memerlukan waktu</a:t>
            </a:r>
          </a:p>
        </p:txBody>
      </p:sp>
      <p:sp>
        <p:nvSpPr>
          <p:cNvPr id="9" name="rule">
            <a:extLst>
              <a:ext uri="{FF2B5EF4-FFF2-40B4-BE49-F238E27FC236}">
                <a16:creationId xmlns:a16="http://schemas.microsoft.com/office/drawing/2014/main" id="{D968B2D8-552C-4468-BA89-38E9CE54E911}"/>
              </a:ext>
            </a:extLst>
          </p:cNvPr>
          <p:cNvSpPr>
            <a:spLocks noGrp="1"/>
          </p:cNvSpPr>
          <p:nvPr/>
        </p:nvSpPr>
        <p:spPr>
          <a:xfrm>
            <a:off x="1524000" y="2943225"/>
            <a:ext cx="99060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AC2BCF1-A18C-4D13-BF7A-FD3A920C130D}"/>
              </a:ext>
            </a:extLst>
          </p:cNvPr>
          <p:cNvSpPr>
            <a:spLocks noGrp="1"/>
          </p:cNvSpPr>
          <p:nvPr/>
        </p:nvSpPr>
        <p:spPr>
          <a:xfrm>
            <a:off x="609600" y="3067050"/>
            <a:ext cx="666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9EF1877-8D29-4D80-8D13-D459062D853C}"/>
              </a:ext>
            </a:extLst>
          </p:cNvPr>
          <p:cNvSpPr>
            <a:spLocks noGrp="1"/>
          </p:cNvSpPr>
          <p:nvPr/>
        </p:nvSpPr>
        <p:spPr>
          <a:xfrm>
            <a:off x="1524000" y="3067050"/>
            <a:ext cx="9810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Informasi buku tersebar di berbagai tempat</a:t>
            </a:r>
          </a:p>
        </p:txBody>
      </p:sp>
      <p:sp>
        <p:nvSpPr>
          <p:cNvPr id="12" name="rule">
            <a:extLst>
              <a:ext uri="{FF2B5EF4-FFF2-40B4-BE49-F238E27FC236}">
                <a16:creationId xmlns:a16="http://schemas.microsoft.com/office/drawing/2014/main" id="{85024637-261B-49BA-927A-79BF9EDFBD24}"/>
              </a:ext>
            </a:extLst>
          </p:cNvPr>
          <p:cNvSpPr>
            <a:spLocks noGrp="1"/>
          </p:cNvSpPr>
          <p:nvPr/>
        </p:nvSpPr>
        <p:spPr>
          <a:xfrm>
            <a:off x="1524000" y="3609975"/>
            <a:ext cx="99060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1B12ED7-B03F-4ABE-9E1F-CA9B781D6DC0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666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CA3833E-7A58-465E-9BDC-897F3913BED1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9810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Status peminjaman sulit diketahui</a:t>
            </a:r>
          </a:p>
        </p:txBody>
      </p:sp>
      <p:sp>
        <p:nvSpPr>
          <p:cNvPr id="15" name="rule">
            <a:extLst>
              <a:ext uri="{FF2B5EF4-FFF2-40B4-BE49-F238E27FC236}">
                <a16:creationId xmlns:a16="http://schemas.microsoft.com/office/drawing/2014/main" id="{EA872F9C-B4D9-4B28-9614-798935483CA1}"/>
              </a:ext>
            </a:extLst>
          </p:cNvPr>
          <p:cNvSpPr>
            <a:spLocks noGrp="1"/>
          </p:cNvSpPr>
          <p:nvPr/>
        </p:nvSpPr>
        <p:spPr>
          <a:xfrm>
            <a:off x="1524000" y="4276725"/>
            <a:ext cx="99060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6C7C3E12-2DB2-4FB9-A278-49D0ECF7D6D9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666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74235391-2B57-4F64-BB81-36BE4BF40AE5}"/>
              </a:ext>
            </a:extLst>
          </p:cNvPr>
          <p:cNvSpPr>
            <a:spLocks noGrp="1"/>
          </p:cNvSpPr>
          <p:nvPr/>
        </p:nvSpPr>
        <p:spPr>
          <a:xfrm>
            <a:off x="1524000" y="4400550"/>
            <a:ext cx="9810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Pengingat tanggal pengembalian belum optimal</a:t>
            </a:r>
          </a:p>
        </p:txBody>
      </p:sp>
      <p:sp>
        <p:nvSpPr>
          <p:cNvPr id="18" name="rule">
            <a:extLst>
              <a:ext uri="{FF2B5EF4-FFF2-40B4-BE49-F238E27FC236}">
                <a16:creationId xmlns:a16="http://schemas.microsoft.com/office/drawing/2014/main" id="{F91B114D-4D71-4926-908B-AE7EF4CB0A9C}"/>
              </a:ext>
            </a:extLst>
          </p:cNvPr>
          <p:cNvSpPr>
            <a:spLocks noGrp="1"/>
          </p:cNvSpPr>
          <p:nvPr/>
        </p:nvSpPr>
        <p:spPr>
          <a:xfrm>
            <a:off x="1524000" y="4943475"/>
            <a:ext cx="99060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239CDACF-B0E5-4E22-AA16-8753E99FF2CB}"/>
              </a:ext>
            </a:extLst>
          </p:cNvPr>
          <p:cNvSpPr>
            <a:spLocks noGrp="1"/>
          </p:cNvSpPr>
          <p:nvPr/>
        </p:nvSpPr>
        <p:spPr>
          <a:xfrm>
            <a:off x="609600" y="5067300"/>
            <a:ext cx="666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B9CCA7FA-7EC8-4BD3-8264-16DEC8BFEFEF}"/>
              </a:ext>
            </a:extLst>
          </p:cNvPr>
          <p:cNvSpPr>
            <a:spLocks noGrp="1"/>
          </p:cNvSpPr>
          <p:nvPr/>
        </p:nvSpPr>
        <p:spPr>
          <a:xfrm>
            <a:off x="1524000" y="5067300"/>
            <a:ext cx="98107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Pengelolaan koleksi dan aktivitas membaca belum personal</a:t>
            </a:r>
          </a:p>
        </p:txBody>
      </p:sp>
      <p:sp>
        <p:nvSpPr>
          <p:cNvPr id="21" name="rule">
            <a:extLst>
              <a:ext uri="{FF2B5EF4-FFF2-40B4-BE49-F238E27FC236}">
                <a16:creationId xmlns:a16="http://schemas.microsoft.com/office/drawing/2014/main" id="{5512FF32-1848-4901-AB7E-94E26E28B044}"/>
              </a:ext>
            </a:extLst>
          </p:cNvPr>
          <p:cNvSpPr>
            <a:spLocks noGrp="1"/>
          </p:cNvSpPr>
          <p:nvPr/>
        </p:nvSpPr>
        <p:spPr>
          <a:xfrm>
            <a:off x="1524000" y="5610225"/>
            <a:ext cx="99060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91017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kicker-marker">
            <a:extLst>
              <a:ext uri="{FF2B5EF4-FFF2-40B4-BE49-F238E27FC236}">
                <a16:creationId xmlns:a16="http://schemas.microsoft.com/office/drawing/2014/main" id="{6077AD98-BAE8-4FD8-88BE-26FB21A7E621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CF1CE422-D605-4667-9375-5A5F6E493F62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SOLUSI NEXREAD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51548019-8D4C-44CE-982A-2D10E434125F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BC014038-6825-4974-841A-C1A3495CE704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04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45F1F1E1-057F-4C98-87B7-C0BEB218B5B9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85BAFDA-D31B-4357-BD3C-4D493BA68F13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Satu platform untuk seluruh perjalanan peminjaman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5925DAB1-E79A-499D-B747-2A431516E1B8}"/>
              </a:ext>
            </a:extLst>
          </p:cNvPr>
          <p:cNvSpPr>
            <a:spLocks noGrp="1"/>
          </p:cNvSpPr>
          <p:nvPr/>
        </p:nvSpPr>
        <p:spPr>
          <a:xfrm>
            <a:off x="609600" y="2400300"/>
            <a:ext cx="10668000" cy="304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200" b="1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PLATFORM PERPUSTAKAAN DIGITAL</a:t>
            </a:r>
          </a:p>
        </p:txBody>
      </p:sp>
      <p:sp>
        <p:nvSpPr>
          <p:cNvPr id="8" name="rule">
            <a:extLst>
              <a:ext uri="{FF2B5EF4-FFF2-40B4-BE49-F238E27FC236}">
                <a16:creationId xmlns:a16="http://schemas.microsoft.com/office/drawing/2014/main" id="{CD2D3B5F-B264-4CC9-91D5-97B651DB947E}"/>
              </a:ext>
            </a:extLst>
          </p:cNvPr>
          <p:cNvSpPr>
            <a:spLocks noGrp="1"/>
          </p:cNvSpPr>
          <p:nvPr/>
        </p:nvSpPr>
        <p:spPr>
          <a:xfrm>
            <a:off x="609600" y="3009900"/>
            <a:ext cx="2057400" cy="1695450"/>
          </a:xfrm>
          <a:prstGeom prst="rect">
            <a:avLst/>
          </a:prstGeom>
          <a:solidFill>
            <a:srgbClr val="132838"/>
          </a:solidFill>
          <a:ln w="0">
            <a:noFill/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1DD6A5BA-70B2-4092-B1DE-B76FC6A5AC9A}"/>
              </a:ext>
            </a:extLst>
          </p:cNvPr>
          <p:cNvSpPr>
            <a:spLocks noGrp="1"/>
          </p:cNvSpPr>
          <p:nvPr/>
        </p:nvSpPr>
        <p:spPr>
          <a:xfrm>
            <a:off x="800100" y="3209925"/>
            <a:ext cx="167640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B51B33E-6E42-48E1-9233-2C31AA25082D}"/>
              </a:ext>
            </a:extLst>
          </p:cNvPr>
          <p:cNvSpPr>
            <a:spLocks noGrp="1"/>
          </p:cNvSpPr>
          <p:nvPr/>
        </p:nvSpPr>
        <p:spPr>
          <a:xfrm>
            <a:off x="800100" y="3800475"/>
            <a:ext cx="16764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Jelajahi katalog buku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AC53AAD7-EBCE-47D8-9CFB-486CBAED7942}"/>
              </a:ext>
            </a:extLst>
          </p:cNvPr>
          <p:cNvSpPr>
            <a:spLocks noGrp="1"/>
          </p:cNvSpPr>
          <p:nvPr/>
        </p:nvSpPr>
        <p:spPr>
          <a:xfrm>
            <a:off x="2828925" y="3009900"/>
            <a:ext cx="2057400" cy="1695450"/>
          </a:xfrm>
          <a:prstGeom prst="rect">
            <a:avLst/>
          </a:prstGeom>
          <a:solidFill>
            <a:srgbClr val="201C38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A018BB3B-7267-4B77-83EB-BC726B7AE836}"/>
              </a:ext>
            </a:extLst>
          </p:cNvPr>
          <p:cNvSpPr>
            <a:spLocks noGrp="1"/>
          </p:cNvSpPr>
          <p:nvPr/>
        </p:nvSpPr>
        <p:spPr>
          <a:xfrm>
            <a:off x="3019425" y="3209925"/>
            <a:ext cx="167640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EEE8B92E-AF04-4F1D-904A-67FA4B456851}"/>
              </a:ext>
            </a:extLst>
          </p:cNvPr>
          <p:cNvSpPr>
            <a:spLocks noGrp="1"/>
          </p:cNvSpPr>
          <p:nvPr/>
        </p:nvSpPr>
        <p:spPr>
          <a:xfrm>
            <a:off x="3019425" y="3800475"/>
            <a:ext cx="16764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Simpan pilihan ke cart</a:t>
            </a:r>
          </a:p>
        </p:txBody>
      </p:sp>
      <p:sp>
        <p:nvSpPr>
          <p:cNvPr id="14" name="rule">
            <a:extLst>
              <a:ext uri="{FF2B5EF4-FFF2-40B4-BE49-F238E27FC236}">
                <a16:creationId xmlns:a16="http://schemas.microsoft.com/office/drawing/2014/main" id="{EBE9630E-C476-4F54-A24A-7B90E53C0EF9}"/>
              </a:ext>
            </a:extLst>
          </p:cNvPr>
          <p:cNvSpPr>
            <a:spLocks noGrp="1"/>
          </p:cNvSpPr>
          <p:nvPr/>
        </p:nvSpPr>
        <p:spPr>
          <a:xfrm>
            <a:off x="5048250" y="3009900"/>
            <a:ext cx="2057400" cy="1695450"/>
          </a:xfrm>
          <a:prstGeom prst="rect">
            <a:avLst/>
          </a:prstGeom>
          <a:solidFill>
            <a:srgbClr val="132838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48599C3C-373F-428C-8B06-1C5DEF2D9AAF}"/>
              </a:ext>
            </a:extLst>
          </p:cNvPr>
          <p:cNvSpPr>
            <a:spLocks noGrp="1"/>
          </p:cNvSpPr>
          <p:nvPr/>
        </p:nvSpPr>
        <p:spPr>
          <a:xfrm>
            <a:off x="5238750" y="3209925"/>
            <a:ext cx="167640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0712B8A9-B276-4FBA-8077-F78397058CCD}"/>
              </a:ext>
            </a:extLst>
          </p:cNvPr>
          <p:cNvSpPr>
            <a:spLocks noGrp="1"/>
          </p:cNvSpPr>
          <p:nvPr/>
        </p:nvSpPr>
        <p:spPr>
          <a:xfrm>
            <a:off x="5238750" y="3800475"/>
            <a:ext cx="16764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Pinjam melalui checkout</a:t>
            </a:r>
          </a:p>
        </p:txBody>
      </p:sp>
      <p:sp>
        <p:nvSpPr>
          <p:cNvPr id="17" name="rule">
            <a:extLst>
              <a:ext uri="{FF2B5EF4-FFF2-40B4-BE49-F238E27FC236}">
                <a16:creationId xmlns:a16="http://schemas.microsoft.com/office/drawing/2014/main" id="{D3341CFA-D3A9-4E38-B538-5FAEB5FC1E42}"/>
              </a:ext>
            </a:extLst>
          </p:cNvPr>
          <p:cNvSpPr>
            <a:spLocks noGrp="1"/>
          </p:cNvSpPr>
          <p:nvPr/>
        </p:nvSpPr>
        <p:spPr>
          <a:xfrm>
            <a:off x="7267575" y="3009900"/>
            <a:ext cx="2057400" cy="1695450"/>
          </a:xfrm>
          <a:prstGeom prst="rect">
            <a:avLst/>
          </a:prstGeom>
          <a:solidFill>
            <a:srgbClr val="201C38"/>
          </a:solidFill>
          <a:ln w="0">
            <a:noFill/>
            <a:prstDash val="solid"/>
          </a:ln>
        </p:spPr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4E2ECAF-7C0A-4A42-9652-527A148F0624}"/>
              </a:ext>
            </a:extLst>
          </p:cNvPr>
          <p:cNvSpPr>
            <a:spLocks noGrp="1"/>
          </p:cNvSpPr>
          <p:nvPr/>
        </p:nvSpPr>
        <p:spPr>
          <a:xfrm>
            <a:off x="7458075" y="3209925"/>
            <a:ext cx="167640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976FB332-02A0-4732-A6BB-27EFAF912830}"/>
              </a:ext>
            </a:extLst>
          </p:cNvPr>
          <p:cNvSpPr>
            <a:spLocks noGrp="1"/>
          </p:cNvSpPr>
          <p:nvPr/>
        </p:nvSpPr>
        <p:spPr>
          <a:xfrm>
            <a:off x="7458075" y="3800475"/>
            <a:ext cx="16764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Pantau Borrowed List</a:t>
            </a: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FFEEA011-1715-4D78-BF62-A8332E95E2A7}"/>
              </a:ext>
            </a:extLst>
          </p:cNvPr>
          <p:cNvSpPr>
            <a:spLocks noGrp="1"/>
          </p:cNvSpPr>
          <p:nvPr/>
        </p:nvSpPr>
        <p:spPr>
          <a:xfrm>
            <a:off x="9486900" y="3009900"/>
            <a:ext cx="2057400" cy="1695450"/>
          </a:xfrm>
          <a:prstGeom prst="rect">
            <a:avLst/>
          </a:prstGeom>
          <a:solidFill>
            <a:srgbClr val="132838"/>
          </a:solidFill>
          <a:ln w="0">
            <a:noFill/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7DE42EC6-9179-423D-8ED7-F37414D1289D}"/>
              </a:ext>
            </a:extLst>
          </p:cNvPr>
          <p:cNvSpPr>
            <a:spLocks noGrp="1"/>
          </p:cNvSpPr>
          <p:nvPr/>
        </p:nvSpPr>
        <p:spPr>
          <a:xfrm>
            <a:off x="9677400" y="3209925"/>
            <a:ext cx="167640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35177270-801F-4D1C-9630-9297EB6F7ABD}"/>
              </a:ext>
            </a:extLst>
          </p:cNvPr>
          <p:cNvSpPr>
            <a:spLocks noGrp="1"/>
          </p:cNvSpPr>
          <p:nvPr/>
        </p:nvSpPr>
        <p:spPr>
          <a:xfrm>
            <a:off x="9677400" y="3800475"/>
            <a:ext cx="1676400" cy="647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Berikan ulasan buku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9F57F3F5-B58C-4884-85BA-967C35F126C3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10763250" cy="5429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Pengalaman terpusat dari menemukan bacaan hingga membagikan ulasan.</a:t>
            </a:r>
          </a:p>
        </p:txBody>
      </p:sp>
    </p:spTree>
    <p:extLst>
      <p:ext uri="{BB962C8B-B14F-4D97-AF65-F5344CB8AC3E}">
        <p14:creationId xmlns:p14="http://schemas.microsoft.com/office/powerpoint/2010/main" val="601034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kicker-marker">
            <a:extLst>
              <a:ext uri="{FF2B5EF4-FFF2-40B4-BE49-F238E27FC236}">
                <a16:creationId xmlns:a16="http://schemas.microsoft.com/office/drawing/2014/main" id="{FEAC688E-3485-4FE6-88C8-AC147954440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0E938422-76E6-49AA-A26C-3F30DD966C9E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FITUR UTAMA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4AFE215E-E343-4844-9BD0-0DA2D2543974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AABE350-9CE4-4772-B39E-D9D2CE548DC9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05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026B8C6E-709C-47C6-B61D-578D72286DBE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1C4313C-1AC7-4478-9E4A-DE96FF2B16D5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Fitur yang menyambungkan pencarian, pilihan, dan pinjaman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BE4BCBA-DDBB-4BC1-9F47-9615968E0192}"/>
              </a:ext>
            </a:extLst>
          </p:cNvPr>
          <p:cNvSpPr>
            <a:spLocks noGrp="1"/>
          </p:cNvSpPr>
          <p:nvPr/>
        </p:nvSpPr>
        <p:spPr>
          <a:xfrm>
            <a:off x="609600" y="2400300"/>
            <a:ext cx="3238500" cy="2857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12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KAPABILITAS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AC523C1-E9D6-45A3-A289-D9ECE1287903}"/>
              </a:ext>
            </a:extLst>
          </p:cNvPr>
          <p:cNvSpPr>
            <a:spLocks noGrp="1"/>
          </p:cNvSpPr>
          <p:nvPr/>
        </p:nvSpPr>
        <p:spPr>
          <a:xfrm>
            <a:off x="4095750" y="2400300"/>
            <a:ext cx="7334250" cy="2857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12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YANG DAPAT DILAKUKAN PENGGUNA</a:t>
            </a:r>
          </a:p>
        </p:txBody>
      </p:sp>
      <p:sp>
        <p:nvSpPr>
          <p:cNvPr id="9" name="rule">
            <a:extLst>
              <a:ext uri="{FF2B5EF4-FFF2-40B4-BE49-F238E27FC236}">
                <a16:creationId xmlns:a16="http://schemas.microsoft.com/office/drawing/2014/main" id="{59E6D7CB-192E-42AD-880F-8CFC739985E1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F7EC118-A44B-4D12-9A0A-879E41BF944C}"/>
              </a:ext>
            </a:extLst>
          </p:cNvPr>
          <p:cNvSpPr>
            <a:spLocks noGrp="1"/>
          </p:cNvSpPr>
          <p:nvPr/>
        </p:nvSpPr>
        <p:spPr>
          <a:xfrm>
            <a:off x="609600" y="2933700"/>
            <a:ext cx="323850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Search &amp; filter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59ECE435-8F52-47B5-B7AB-068A5CAE7F97}"/>
              </a:ext>
            </a:extLst>
          </p:cNvPr>
          <p:cNvSpPr>
            <a:spLocks noGrp="1"/>
          </p:cNvSpPr>
          <p:nvPr/>
        </p:nvSpPr>
        <p:spPr>
          <a:xfrm>
            <a:off x="4095750" y="2933700"/>
            <a:ext cx="733425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Judul, author, atau ISBN; kategori dan rating</a:t>
            </a:r>
          </a:p>
        </p:txBody>
      </p:sp>
      <p:sp>
        <p:nvSpPr>
          <p:cNvPr id="12" name="rule">
            <a:extLst>
              <a:ext uri="{FF2B5EF4-FFF2-40B4-BE49-F238E27FC236}">
                <a16:creationId xmlns:a16="http://schemas.microsoft.com/office/drawing/2014/main" id="{68658585-54BD-49BD-8993-6A625434E967}"/>
              </a:ext>
            </a:extLst>
          </p:cNvPr>
          <p:cNvSpPr>
            <a:spLocks noGrp="1"/>
          </p:cNvSpPr>
          <p:nvPr/>
        </p:nvSpPr>
        <p:spPr>
          <a:xfrm>
            <a:off x="609600" y="34385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C353D6C-3912-4CBD-B2E5-4D26BB0C9446}"/>
              </a:ext>
            </a:extLst>
          </p:cNvPr>
          <p:cNvSpPr>
            <a:spLocks noGrp="1"/>
          </p:cNvSpPr>
          <p:nvPr/>
        </p:nvSpPr>
        <p:spPr>
          <a:xfrm>
            <a:off x="609600" y="3571875"/>
            <a:ext cx="323850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Book Detail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25C7839-6C5E-4130-B8F0-5E9E33EA5399}"/>
              </a:ext>
            </a:extLst>
          </p:cNvPr>
          <p:cNvSpPr>
            <a:spLocks noGrp="1"/>
          </p:cNvSpPr>
          <p:nvPr/>
        </p:nvSpPr>
        <p:spPr>
          <a:xfrm>
            <a:off x="4095750" y="3571875"/>
            <a:ext cx="733425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Cover, deskripsi, dan review buku</a:t>
            </a:r>
          </a:p>
        </p:txBody>
      </p:sp>
      <p:sp>
        <p:nvSpPr>
          <p:cNvPr id="15" name="rule">
            <a:extLst>
              <a:ext uri="{FF2B5EF4-FFF2-40B4-BE49-F238E27FC236}">
                <a16:creationId xmlns:a16="http://schemas.microsoft.com/office/drawing/2014/main" id="{260D9C47-DF00-4F81-B15F-E57D61FF36D1}"/>
              </a:ext>
            </a:extLst>
          </p:cNvPr>
          <p:cNvSpPr>
            <a:spLocks noGrp="1"/>
          </p:cNvSpPr>
          <p:nvPr/>
        </p:nvSpPr>
        <p:spPr>
          <a:xfrm>
            <a:off x="609600" y="4076700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5A040A80-0DC0-4282-AB69-E14BE2B1635E}"/>
              </a:ext>
            </a:extLst>
          </p:cNvPr>
          <p:cNvSpPr>
            <a:spLocks noGrp="1"/>
          </p:cNvSpPr>
          <p:nvPr/>
        </p:nvSpPr>
        <p:spPr>
          <a:xfrm>
            <a:off x="609600" y="4210050"/>
            <a:ext cx="323850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Cart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C7BAF5CE-10DB-4073-BFB5-3556B7E1E8A6}"/>
              </a:ext>
            </a:extLst>
          </p:cNvPr>
          <p:cNvSpPr>
            <a:spLocks noGrp="1"/>
          </p:cNvSpPr>
          <p:nvPr/>
        </p:nvSpPr>
        <p:spPr>
          <a:xfrm>
            <a:off x="4095750" y="4210050"/>
            <a:ext cx="733425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Kelola buku pilihan sebelum meminjam</a:t>
            </a:r>
          </a:p>
        </p:txBody>
      </p:sp>
      <p:sp>
        <p:nvSpPr>
          <p:cNvPr id="18" name="rule">
            <a:extLst>
              <a:ext uri="{FF2B5EF4-FFF2-40B4-BE49-F238E27FC236}">
                <a16:creationId xmlns:a16="http://schemas.microsoft.com/office/drawing/2014/main" id="{37963DD0-E85F-428E-8522-46FA724FA5F2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AAF1ACE8-1CDD-4CE5-B558-43C1D0424CAA}"/>
              </a:ext>
            </a:extLst>
          </p:cNvPr>
          <p:cNvSpPr>
            <a:spLocks noGrp="1"/>
          </p:cNvSpPr>
          <p:nvPr/>
        </p:nvSpPr>
        <p:spPr>
          <a:xfrm>
            <a:off x="609600" y="4848225"/>
            <a:ext cx="323850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Checkout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4B5C7B38-1214-45E6-8885-E84CDF8645D7}"/>
              </a:ext>
            </a:extLst>
          </p:cNvPr>
          <p:cNvSpPr>
            <a:spLocks noGrp="1"/>
          </p:cNvSpPr>
          <p:nvPr/>
        </p:nvSpPr>
        <p:spPr>
          <a:xfrm>
            <a:off x="4095750" y="4848225"/>
            <a:ext cx="733425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Pilih durasi peminjaman</a:t>
            </a:r>
          </a:p>
        </p:txBody>
      </p:sp>
      <p:sp>
        <p:nvSpPr>
          <p:cNvPr id="21" name="rule">
            <a:extLst>
              <a:ext uri="{FF2B5EF4-FFF2-40B4-BE49-F238E27FC236}">
                <a16:creationId xmlns:a16="http://schemas.microsoft.com/office/drawing/2014/main" id="{6805D3DC-25AB-4BE2-958C-BFA07DF46D62}"/>
              </a:ext>
            </a:extLst>
          </p:cNvPr>
          <p:cNvSpPr>
            <a:spLocks noGrp="1"/>
          </p:cNvSpPr>
          <p:nvPr/>
        </p:nvSpPr>
        <p:spPr>
          <a:xfrm>
            <a:off x="609600" y="5353050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55AF27B8-14A1-401F-A7FA-329A738573E2}"/>
              </a:ext>
            </a:extLst>
          </p:cNvPr>
          <p:cNvSpPr>
            <a:spLocks noGrp="1"/>
          </p:cNvSpPr>
          <p:nvPr/>
        </p:nvSpPr>
        <p:spPr>
          <a:xfrm>
            <a:off x="609600" y="5486400"/>
            <a:ext cx="323850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Borrowed List</a:t>
            </a:r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7FF4D1B1-22FD-4B82-8719-ADC4FF84A584}"/>
              </a:ext>
            </a:extLst>
          </p:cNvPr>
          <p:cNvSpPr>
            <a:spLocks noGrp="1"/>
          </p:cNvSpPr>
          <p:nvPr/>
        </p:nvSpPr>
        <p:spPr>
          <a:xfrm>
            <a:off x="4095750" y="5486400"/>
            <a:ext cx="7334250" cy="428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Status Active, Returned, dan Overdue</a:t>
            </a:r>
          </a:p>
        </p:txBody>
      </p:sp>
    </p:spTree>
    <p:extLst>
      <p:ext uri="{BB962C8B-B14F-4D97-AF65-F5344CB8AC3E}">
        <p14:creationId xmlns:p14="http://schemas.microsoft.com/office/powerpoint/2010/main" val="881984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kicker-marker">
            <a:extLst>
              <a:ext uri="{FF2B5EF4-FFF2-40B4-BE49-F238E27FC236}">
                <a16:creationId xmlns:a16="http://schemas.microsoft.com/office/drawing/2014/main" id="{5D3945F5-6909-4787-BA14-405B150B1CA0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862367FA-4069-48CB-9BA2-4570A36CD45A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USER FLOW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A7E40BDD-1148-4F04-AA1F-30E88363EF07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4112EE26-1420-4799-8F60-91AB56B9EAF3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06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0F2E6A56-5E17-4438-A05F-57445BB2B30B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6289C96-3108-4D66-8CD1-1A58A608FADE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Tujuh langkah dari login hingga memantau pinjaman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19416FC4-D728-4AA2-9E34-E135F03E49ED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rule">
            <a:extLst>
              <a:ext uri="{FF2B5EF4-FFF2-40B4-BE49-F238E27FC236}">
                <a16:creationId xmlns:a16="http://schemas.microsoft.com/office/drawing/2014/main" id="{B17F6217-ED24-4C5F-93E3-A4F3308DEF18}"/>
              </a:ext>
            </a:extLst>
          </p:cNvPr>
          <p:cNvSpPr>
            <a:spLocks noGrp="1"/>
          </p:cNvSpPr>
          <p:nvPr/>
        </p:nvSpPr>
        <p:spPr>
          <a:xfrm>
            <a:off x="609600" y="3067050"/>
            <a:ext cx="2419350" cy="28575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B16D8416-220C-46EA-94D0-C8B0AFCE7E4A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Login atau register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80D46BDC-0D08-48EF-8C46-0397CB36F2B6}"/>
              </a:ext>
            </a:extLst>
          </p:cNvPr>
          <p:cNvSpPr>
            <a:spLocks noGrp="1"/>
          </p:cNvSpPr>
          <p:nvPr/>
        </p:nvSpPr>
        <p:spPr>
          <a:xfrm>
            <a:off x="3409950" y="2476500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0C4D3E84-55BB-413D-B4ED-15685EDBA43F}"/>
              </a:ext>
            </a:extLst>
          </p:cNvPr>
          <p:cNvSpPr>
            <a:spLocks noGrp="1"/>
          </p:cNvSpPr>
          <p:nvPr/>
        </p:nvSpPr>
        <p:spPr>
          <a:xfrm>
            <a:off x="3409950" y="3067050"/>
            <a:ext cx="2419350" cy="28575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959A5106-DE74-431A-AF22-D441A8675DD9}"/>
              </a:ext>
            </a:extLst>
          </p:cNvPr>
          <p:cNvSpPr>
            <a:spLocks noGrp="1"/>
          </p:cNvSpPr>
          <p:nvPr/>
        </p:nvSpPr>
        <p:spPr>
          <a:xfrm>
            <a:off x="3409950" y="3314700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Cari buku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F50F0AE2-CA19-4FED-AE77-924163BED9F6}"/>
              </a:ext>
            </a:extLst>
          </p:cNvPr>
          <p:cNvSpPr>
            <a:spLocks noGrp="1"/>
          </p:cNvSpPr>
          <p:nvPr/>
        </p:nvSpPr>
        <p:spPr>
          <a:xfrm>
            <a:off x="6210300" y="2476500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4" name="rule">
            <a:extLst>
              <a:ext uri="{FF2B5EF4-FFF2-40B4-BE49-F238E27FC236}">
                <a16:creationId xmlns:a16="http://schemas.microsoft.com/office/drawing/2014/main" id="{F8F4BF27-D0DA-4414-AF19-2D14FA5BDBB8}"/>
              </a:ext>
            </a:extLst>
          </p:cNvPr>
          <p:cNvSpPr>
            <a:spLocks noGrp="1"/>
          </p:cNvSpPr>
          <p:nvPr/>
        </p:nvSpPr>
        <p:spPr>
          <a:xfrm>
            <a:off x="6210300" y="3067050"/>
            <a:ext cx="2419350" cy="28575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DA421FB8-B37F-4BFB-B98D-008206066FFB}"/>
              </a:ext>
            </a:extLst>
          </p:cNvPr>
          <p:cNvSpPr>
            <a:spLocks noGrp="1"/>
          </p:cNvSpPr>
          <p:nvPr/>
        </p:nvSpPr>
        <p:spPr>
          <a:xfrm>
            <a:off x="6210300" y="3314700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Lihat detail dan ulasan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C5493C33-D217-4437-BDDF-918B44447EFF}"/>
              </a:ext>
            </a:extLst>
          </p:cNvPr>
          <p:cNvSpPr>
            <a:spLocks noGrp="1"/>
          </p:cNvSpPr>
          <p:nvPr/>
        </p:nvSpPr>
        <p:spPr>
          <a:xfrm>
            <a:off x="9010650" y="2476500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7" name="rule">
            <a:extLst>
              <a:ext uri="{FF2B5EF4-FFF2-40B4-BE49-F238E27FC236}">
                <a16:creationId xmlns:a16="http://schemas.microsoft.com/office/drawing/2014/main" id="{9C1D1B89-FE8C-4F6C-A3AC-3A0409015B35}"/>
              </a:ext>
            </a:extLst>
          </p:cNvPr>
          <p:cNvSpPr>
            <a:spLocks noGrp="1"/>
          </p:cNvSpPr>
          <p:nvPr/>
        </p:nvSpPr>
        <p:spPr>
          <a:xfrm>
            <a:off x="9010650" y="3067050"/>
            <a:ext cx="2419350" cy="28575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665C0769-06B4-43D3-961A-B8E228A75CA8}"/>
              </a:ext>
            </a:extLst>
          </p:cNvPr>
          <p:cNvSpPr>
            <a:spLocks noGrp="1"/>
          </p:cNvSpPr>
          <p:nvPr/>
        </p:nvSpPr>
        <p:spPr>
          <a:xfrm>
            <a:off x="9010650" y="3314700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Tambahkan ke cart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B3EC4AE-5BEB-4B53-8DF0-DE392E2E9A9A}"/>
              </a:ext>
            </a:extLst>
          </p:cNvPr>
          <p:cNvSpPr>
            <a:spLocks noGrp="1"/>
          </p:cNvSpPr>
          <p:nvPr/>
        </p:nvSpPr>
        <p:spPr>
          <a:xfrm>
            <a:off x="609600" y="4219575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EEAD4ADC-4BCE-46AF-9D29-28DDC9136962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2419350" cy="28575"/>
          </a:xfrm>
          <a:prstGeom prst="rect">
            <a:avLst/>
          </a:prstGeom>
          <a:solidFill>
            <a:srgbClr val="A995FF"/>
          </a:solidFill>
          <a:ln w="0">
            <a:noFill/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7F9964DB-A6F8-461F-B48A-6C2C818E0FA0}"/>
              </a:ext>
            </a:extLst>
          </p:cNvPr>
          <p:cNvSpPr>
            <a:spLocks noGrp="1"/>
          </p:cNvSpPr>
          <p:nvPr/>
        </p:nvSpPr>
        <p:spPr>
          <a:xfrm>
            <a:off x="609600" y="5057775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Pilih buku, klik Borrow Book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96D314E7-D58E-495D-907F-4FF6CC51B238}"/>
              </a:ext>
            </a:extLst>
          </p:cNvPr>
          <p:cNvSpPr>
            <a:spLocks noGrp="1"/>
          </p:cNvSpPr>
          <p:nvPr/>
        </p:nvSpPr>
        <p:spPr>
          <a:xfrm>
            <a:off x="3409950" y="4219575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23" name="rule">
            <a:extLst>
              <a:ext uri="{FF2B5EF4-FFF2-40B4-BE49-F238E27FC236}">
                <a16:creationId xmlns:a16="http://schemas.microsoft.com/office/drawing/2014/main" id="{B6B1F1EE-7211-4C05-AE4F-484FA3294A4E}"/>
              </a:ext>
            </a:extLst>
          </p:cNvPr>
          <p:cNvSpPr>
            <a:spLocks noGrp="1"/>
          </p:cNvSpPr>
          <p:nvPr/>
        </p:nvSpPr>
        <p:spPr>
          <a:xfrm>
            <a:off x="3409950" y="4810125"/>
            <a:ext cx="2419350" cy="28575"/>
          </a:xfrm>
          <a:prstGeom prst="rect">
            <a:avLst/>
          </a:prstGeom>
          <a:solidFill>
            <a:srgbClr val="A995FF"/>
          </a:solidFill>
          <a:ln w="0">
            <a:noFill/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A6A5616C-23E9-44A6-8DF3-9D340C1FE1A1}"/>
              </a:ext>
            </a:extLst>
          </p:cNvPr>
          <p:cNvSpPr>
            <a:spLocks noGrp="1"/>
          </p:cNvSpPr>
          <p:nvPr/>
        </p:nvSpPr>
        <p:spPr>
          <a:xfrm>
            <a:off x="3409950" y="5057775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Tentukan durasi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1440E3AC-DD00-41D2-97DA-BAA3E6BDCDDB}"/>
              </a:ext>
            </a:extLst>
          </p:cNvPr>
          <p:cNvSpPr>
            <a:spLocks noGrp="1"/>
          </p:cNvSpPr>
          <p:nvPr/>
        </p:nvSpPr>
        <p:spPr>
          <a:xfrm>
            <a:off x="6210300" y="4219575"/>
            <a:ext cx="23336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85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26" name="rule">
            <a:extLst>
              <a:ext uri="{FF2B5EF4-FFF2-40B4-BE49-F238E27FC236}">
                <a16:creationId xmlns:a16="http://schemas.microsoft.com/office/drawing/2014/main" id="{D76E4B5B-FCD4-4476-90EC-30016125E1B6}"/>
              </a:ext>
            </a:extLst>
          </p:cNvPr>
          <p:cNvSpPr>
            <a:spLocks noGrp="1"/>
          </p:cNvSpPr>
          <p:nvPr/>
        </p:nvSpPr>
        <p:spPr>
          <a:xfrm>
            <a:off x="6210300" y="4810125"/>
            <a:ext cx="2419350" cy="28575"/>
          </a:xfrm>
          <a:prstGeom prst="rect">
            <a:avLst/>
          </a:prstGeom>
          <a:solidFill>
            <a:srgbClr val="A995FF"/>
          </a:solidFill>
          <a:ln w="0">
            <a:noFill/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C5808C74-1709-4BB3-99F3-856AFED57EEF}"/>
              </a:ext>
            </a:extLst>
          </p:cNvPr>
          <p:cNvSpPr>
            <a:spLocks noGrp="1"/>
          </p:cNvSpPr>
          <p:nvPr/>
        </p:nvSpPr>
        <p:spPr>
          <a:xfrm>
            <a:off x="6210300" y="5057775"/>
            <a:ext cx="2400300" cy="7239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Pantau Borrowed List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5DBFEAED-D7C3-4402-80E3-81446F9F99EA}"/>
              </a:ext>
            </a:extLst>
          </p:cNvPr>
          <p:cNvSpPr>
            <a:spLocks noGrp="1"/>
          </p:cNvSpPr>
          <p:nvPr/>
        </p:nvSpPr>
        <p:spPr>
          <a:xfrm>
            <a:off x="9010650" y="5057775"/>
            <a:ext cx="252412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Baca. Kelola. Ulangi.</a:t>
            </a:r>
          </a:p>
        </p:txBody>
      </p:sp>
    </p:spTree>
    <p:extLst>
      <p:ext uri="{BB962C8B-B14F-4D97-AF65-F5344CB8AC3E}">
        <p14:creationId xmlns:p14="http://schemas.microsoft.com/office/powerpoint/2010/main" val="757116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kicker-marker">
            <a:extLst>
              <a:ext uri="{FF2B5EF4-FFF2-40B4-BE49-F238E27FC236}">
                <a16:creationId xmlns:a16="http://schemas.microsoft.com/office/drawing/2014/main" id="{E9F85ECA-68DF-48AE-A156-02B4F067C3E8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A58E9C6B-055D-4766-8F0A-29380D22B324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KEUNGGULAN NEXREAD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448E1E89-E6BB-4944-B53F-BEB748D7E92C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97F31D42-B2E3-47F1-805C-492566E77135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07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345B0429-E789-4939-9DD7-3DE0569A24A9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96279ED-D71E-4DEB-9613-E761CDB841ED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Alur yang terhubung. Informasi yang lebih jelas.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A8FB0F7-03C5-4CC6-B557-F6F328944B75}"/>
              </a:ext>
            </a:extLst>
          </p:cNvPr>
          <p:cNvSpPr>
            <a:spLocks noGrp="1"/>
          </p:cNvSpPr>
          <p:nvPr/>
        </p:nvSpPr>
        <p:spPr>
          <a:xfrm>
            <a:off x="609600" y="2514600"/>
            <a:ext cx="5048250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2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Pengalaman membaca</a:t>
            </a:r>
          </a:p>
        </p:txBody>
      </p:sp>
      <p:sp>
        <p:nvSpPr>
          <p:cNvPr id="8" name="rule">
            <a:extLst>
              <a:ext uri="{FF2B5EF4-FFF2-40B4-BE49-F238E27FC236}">
                <a16:creationId xmlns:a16="http://schemas.microsoft.com/office/drawing/2014/main" id="{EE16EC2C-4B4C-47FA-BBC5-E502A85DE0CC}"/>
              </a:ext>
            </a:extLst>
          </p:cNvPr>
          <p:cNvSpPr>
            <a:spLocks noGrp="1"/>
          </p:cNvSpPr>
          <p:nvPr/>
        </p:nvSpPr>
        <p:spPr>
          <a:xfrm>
            <a:off x="609600" y="3152775"/>
            <a:ext cx="5048250" cy="1905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94CABB73-96E8-4912-B4FC-F76634198ED2}"/>
              </a:ext>
            </a:extLst>
          </p:cNvPr>
          <p:cNvSpPr>
            <a:spLocks noGrp="1"/>
          </p:cNvSpPr>
          <p:nvPr/>
        </p:nvSpPr>
        <p:spPr>
          <a:xfrm>
            <a:off x="609600" y="3476625"/>
            <a:ext cx="500062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Satu alur digital dari discovery sampai peminjaman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1C284074-8EAC-494D-8049-008AB07DEDE7}"/>
              </a:ext>
            </a:extLst>
          </p:cNvPr>
          <p:cNvSpPr>
            <a:spLocks noGrp="1"/>
          </p:cNvSpPr>
          <p:nvPr/>
        </p:nvSpPr>
        <p:spPr>
          <a:xfrm>
            <a:off x="609600" y="4257675"/>
            <a:ext cx="500062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Tampilan modern dan mudah dipahami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DC672D4D-9E03-4440-A838-D87AC6529AB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00062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Pengalaman membaca yang lebih personal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CECFE7CC-96E0-4C07-B028-998182382163}"/>
              </a:ext>
            </a:extLst>
          </p:cNvPr>
          <p:cNvSpPr>
            <a:spLocks noGrp="1"/>
          </p:cNvSpPr>
          <p:nvPr/>
        </p:nvSpPr>
        <p:spPr>
          <a:xfrm>
            <a:off x="6267450" y="2514600"/>
            <a:ext cx="5048250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25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Fondasi perpustakaan</a:t>
            </a:r>
          </a:p>
        </p:txBody>
      </p:sp>
      <p:sp>
        <p:nvSpPr>
          <p:cNvPr id="13" name="rule">
            <a:extLst>
              <a:ext uri="{FF2B5EF4-FFF2-40B4-BE49-F238E27FC236}">
                <a16:creationId xmlns:a16="http://schemas.microsoft.com/office/drawing/2014/main" id="{6F07CB3B-A066-4DF9-9E38-BA144EC912CD}"/>
              </a:ext>
            </a:extLst>
          </p:cNvPr>
          <p:cNvSpPr>
            <a:spLocks noGrp="1"/>
          </p:cNvSpPr>
          <p:nvPr/>
        </p:nvSpPr>
        <p:spPr>
          <a:xfrm>
            <a:off x="6267450" y="3152775"/>
            <a:ext cx="5048250" cy="19050"/>
          </a:xfrm>
          <a:prstGeom prst="rect">
            <a:avLst/>
          </a:prstGeom>
          <a:solidFill>
            <a:srgbClr val="A995FF"/>
          </a:solidFill>
          <a:ln w="0">
            <a:noFill/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CC85E6F7-241C-4DD4-B4EF-40F71B3CC183}"/>
              </a:ext>
            </a:extLst>
          </p:cNvPr>
          <p:cNvSpPr>
            <a:spLocks noGrp="1"/>
          </p:cNvSpPr>
          <p:nvPr/>
        </p:nvSpPr>
        <p:spPr>
          <a:xfrm>
            <a:off x="6267450" y="3476625"/>
            <a:ext cx="500062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Informasi buku lebih terstruktur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BB1E98E-7343-44C7-BD59-2DD3A97E3F4A}"/>
              </a:ext>
            </a:extLst>
          </p:cNvPr>
          <p:cNvSpPr>
            <a:spLocks noGrp="1"/>
          </p:cNvSpPr>
          <p:nvPr/>
        </p:nvSpPr>
        <p:spPr>
          <a:xfrm>
            <a:off x="6267450" y="4257675"/>
            <a:ext cx="500062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Status pinjaman lebih transparan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F466CEDE-6681-440E-ACA4-B273957D6CD2}"/>
              </a:ext>
            </a:extLst>
          </p:cNvPr>
          <p:cNvSpPr>
            <a:spLocks noGrp="1"/>
          </p:cNvSpPr>
          <p:nvPr/>
        </p:nvSpPr>
        <p:spPr>
          <a:xfrm>
            <a:off x="6267450" y="5038725"/>
            <a:ext cx="500062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75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Dapat dikembangkan untuk perpustakaan modern</a:t>
            </a:r>
          </a:p>
        </p:txBody>
      </p:sp>
    </p:spTree>
    <p:extLst>
      <p:ext uri="{BB962C8B-B14F-4D97-AF65-F5344CB8AC3E}">
        <p14:creationId xmlns:p14="http://schemas.microsoft.com/office/powerpoint/2010/main" val="1520341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kicker-marker">
            <a:extLst>
              <a:ext uri="{FF2B5EF4-FFF2-40B4-BE49-F238E27FC236}">
                <a16:creationId xmlns:a16="http://schemas.microsoft.com/office/drawing/2014/main" id="{C580A5DD-619A-42A5-806E-B684FA3A22A2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7F8F6052-1A79-465A-A609-94A946F1D6AF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MANFAAT UNTUK PENGGUNA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66DBFCAB-C4F9-4380-9099-21769197BD14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274D1815-782D-4830-90AB-C73B9C80DF94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08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3359B16B-DFEA-4C9F-81A3-9965198A1FD8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7EF1B59-3DA2-44DA-A6B5-138E1B73EE46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Lebih mudah memilih, meminjam, dan menjaga kebiasaan membaca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78ED5ECF-4714-4AF0-A9BE-936B9CE64402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314325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A119B28D-C4D1-4DEA-A00E-5C03C02786D6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31432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32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Temukan</a:t>
            </a:r>
          </a:p>
        </p:txBody>
      </p:sp>
      <p:sp>
        <p:nvSpPr>
          <p:cNvPr id="9" name="rule">
            <a:extLst>
              <a:ext uri="{FF2B5EF4-FFF2-40B4-BE49-F238E27FC236}">
                <a16:creationId xmlns:a16="http://schemas.microsoft.com/office/drawing/2014/main" id="{A16A3798-84E8-4393-B349-E2C78CDD0A4E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32385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4427607-A3FF-45B8-947B-5E7B352FADBA}"/>
              </a:ext>
            </a:extLst>
          </p:cNvPr>
          <p:cNvSpPr>
            <a:spLocks noGrp="1"/>
          </p:cNvSpPr>
          <p:nvPr/>
        </p:nvSpPr>
        <p:spPr>
          <a:xfrm>
            <a:off x="609600" y="4219575"/>
            <a:ext cx="3219450" cy="7334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Menghemat waktu saat mencari buku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2FC9773D-746B-49DA-9EF4-96FEEEEF836E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3219450" cy="7334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Menemukan buku berdasarkan minat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2783AF33-2951-4945-B3D7-AD33708731A9}"/>
              </a:ext>
            </a:extLst>
          </p:cNvPr>
          <p:cNvSpPr>
            <a:spLocks noGrp="1"/>
          </p:cNvSpPr>
          <p:nvPr/>
        </p:nvSpPr>
        <p:spPr>
          <a:xfrm>
            <a:off x="4391025" y="2552700"/>
            <a:ext cx="314325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6F8A190-7626-4818-AB86-54216D41BC0F}"/>
              </a:ext>
            </a:extLst>
          </p:cNvPr>
          <p:cNvSpPr>
            <a:spLocks noGrp="1"/>
          </p:cNvSpPr>
          <p:nvPr/>
        </p:nvSpPr>
        <p:spPr>
          <a:xfrm>
            <a:off x="4391025" y="3286125"/>
            <a:ext cx="31432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32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Pinjam</a:t>
            </a:r>
          </a:p>
        </p:txBody>
      </p:sp>
      <p:sp>
        <p:nvSpPr>
          <p:cNvPr id="14" name="rule">
            <a:extLst>
              <a:ext uri="{FF2B5EF4-FFF2-40B4-BE49-F238E27FC236}">
                <a16:creationId xmlns:a16="http://schemas.microsoft.com/office/drawing/2014/main" id="{86C20F51-ECD8-4833-8C74-DAF192C73E4F}"/>
              </a:ext>
            </a:extLst>
          </p:cNvPr>
          <p:cNvSpPr>
            <a:spLocks noGrp="1"/>
          </p:cNvSpPr>
          <p:nvPr/>
        </p:nvSpPr>
        <p:spPr>
          <a:xfrm>
            <a:off x="4391025" y="3971925"/>
            <a:ext cx="32385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6F452B6-648A-4B64-B4DA-37DAA37252C5}"/>
              </a:ext>
            </a:extLst>
          </p:cNvPr>
          <p:cNvSpPr>
            <a:spLocks noGrp="1"/>
          </p:cNvSpPr>
          <p:nvPr/>
        </p:nvSpPr>
        <p:spPr>
          <a:xfrm>
            <a:off x="4391025" y="4219575"/>
            <a:ext cx="3219450" cy="7334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Memudahkan proses peminjaman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F5C45DFF-8944-4F8B-B277-565FFA1BCB28}"/>
              </a:ext>
            </a:extLst>
          </p:cNvPr>
          <p:cNvSpPr>
            <a:spLocks noGrp="1"/>
          </p:cNvSpPr>
          <p:nvPr/>
        </p:nvSpPr>
        <p:spPr>
          <a:xfrm>
            <a:off x="4391025" y="5029200"/>
            <a:ext cx="3219450" cy="7334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Mengurangi risiko lupa tanggal pengembalian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FCB8572-538B-4998-9FB0-875215525AAD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314325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7770817-BA24-46E5-95D9-26BD42F2D5A9}"/>
              </a:ext>
            </a:extLst>
          </p:cNvPr>
          <p:cNvSpPr>
            <a:spLocks noGrp="1"/>
          </p:cNvSpPr>
          <p:nvPr/>
        </p:nvSpPr>
        <p:spPr>
          <a:xfrm>
            <a:off x="8172450" y="3286125"/>
            <a:ext cx="314325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325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Lanjutkan</a:t>
            </a:r>
          </a:p>
        </p:txBody>
      </p:sp>
      <p:sp>
        <p:nvSpPr>
          <p:cNvPr id="19" name="rule">
            <a:extLst>
              <a:ext uri="{FF2B5EF4-FFF2-40B4-BE49-F238E27FC236}">
                <a16:creationId xmlns:a16="http://schemas.microsoft.com/office/drawing/2014/main" id="{A19C75DF-97BD-4865-B2FD-F4851BCA4B9A}"/>
              </a:ext>
            </a:extLst>
          </p:cNvPr>
          <p:cNvSpPr>
            <a:spLocks noGrp="1"/>
          </p:cNvSpPr>
          <p:nvPr/>
        </p:nvSpPr>
        <p:spPr>
          <a:xfrm>
            <a:off x="8172450" y="3971925"/>
            <a:ext cx="32385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8DEF651E-1586-46BF-B28B-473837F87D9B}"/>
              </a:ext>
            </a:extLst>
          </p:cNvPr>
          <p:cNvSpPr>
            <a:spLocks noGrp="1"/>
          </p:cNvSpPr>
          <p:nvPr/>
        </p:nvSpPr>
        <p:spPr>
          <a:xfrm>
            <a:off x="8172450" y="4219575"/>
            <a:ext cx="3219450" cy="7334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Memudahkan pencatatan riwayat bacaan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F122FA25-D29D-444B-A352-9889D2C57481}"/>
              </a:ext>
            </a:extLst>
          </p:cNvPr>
          <p:cNvSpPr>
            <a:spLocks noGrp="1"/>
          </p:cNvSpPr>
          <p:nvPr/>
        </p:nvSpPr>
        <p:spPr>
          <a:xfrm>
            <a:off x="8172450" y="5029200"/>
            <a:ext cx="3219450" cy="7334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Mendorong kebiasaan membaca yang konsisten</a:t>
            </a:r>
          </a:p>
        </p:txBody>
      </p:sp>
    </p:spTree>
    <p:extLst>
      <p:ext uri="{BB962C8B-B14F-4D97-AF65-F5344CB8AC3E}">
        <p14:creationId xmlns:p14="http://schemas.microsoft.com/office/powerpoint/2010/main" val="955589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kicker-marker">
            <a:extLst>
              <a:ext uri="{FF2B5EF4-FFF2-40B4-BE49-F238E27FC236}">
                <a16:creationId xmlns:a16="http://schemas.microsoft.com/office/drawing/2014/main" id="{6431A632-1E65-49AA-A456-E7606A039692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B1AB0437-E6BD-4254-806C-4CCF36477BC6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MANFAAT UNTUK PERPUSTAKAAN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1B2AF6C7-010C-4880-98FB-3AA329EFC8E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7189585-0651-45C8-B004-737AE961D145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09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8B3E045E-F5C7-46CD-BB82-F263F79AEA18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0634D86D-E5D4-4355-B418-6828DDC18E25}"/>
              </a:ext>
            </a:extLst>
          </p:cNvPr>
          <p:cNvSpPr>
            <a:spLocks noGrp="1"/>
          </p:cNvSpPr>
          <p:nvPr/>
        </p:nvSpPr>
        <p:spPr>
          <a:xfrm>
            <a:off x="609600" y="904875"/>
            <a:ext cx="10953750" cy="1190625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33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Operasional lebih praktis, hubungan dengan pembaca lebih kuat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2498F4A4-AB04-4148-8A54-13284F551A5D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300037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Administrasi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8444311-C57E-40F2-825D-EFEEF618D830}"/>
              </a:ext>
            </a:extLst>
          </p:cNvPr>
          <p:cNvSpPr>
            <a:spLocks noGrp="1"/>
          </p:cNvSpPr>
          <p:nvPr/>
        </p:nvSpPr>
        <p:spPr>
          <a:xfrm>
            <a:off x="4095750" y="2505075"/>
            <a:ext cx="73342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Mengurangi proses administratif manual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9EEFF4BA-F11B-479D-B33C-1D8068D9EE3F}"/>
              </a:ext>
            </a:extLst>
          </p:cNvPr>
          <p:cNvSpPr>
            <a:spLocks noGrp="1"/>
          </p:cNvSpPr>
          <p:nvPr/>
        </p:nvSpPr>
        <p:spPr>
          <a:xfrm>
            <a:off x="4095750" y="2943225"/>
            <a:ext cx="7334250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Memudahkan pemantauan peminjaman</a:t>
            </a:r>
          </a:p>
        </p:txBody>
      </p:sp>
      <p:sp>
        <p:nvSpPr>
          <p:cNvPr id="10" name="rule">
            <a:extLst>
              <a:ext uri="{FF2B5EF4-FFF2-40B4-BE49-F238E27FC236}">
                <a16:creationId xmlns:a16="http://schemas.microsoft.com/office/drawing/2014/main" id="{3E097868-ED64-4FD1-8EE2-369DD5FAE516}"/>
              </a:ext>
            </a:extLst>
          </p:cNvPr>
          <p:cNvSpPr>
            <a:spLocks noGrp="1"/>
          </p:cNvSpPr>
          <p:nvPr/>
        </p:nvSpPr>
        <p:spPr>
          <a:xfrm>
            <a:off x="609600" y="34766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423182F-19CA-4BEA-9E41-01C696A41E41}"/>
              </a:ext>
            </a:extLst>
          </p:cNvPr>
          <p:cNvSpPr>
            <a:spLocks noGrp="1"/>
          </p:cNvSpPr>
          <p:nvPr/>
        </p:nvSpPr>
        <p:spPr>
          <a:xfrm>
            <a:off x="609600" y="3648075"/>
            <a:ext cx="300037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Data &amp; insight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A068B51E-F59A-412E-980C-16A14FEFD9DB}"/>
              </a:ext>
            </a:extLst>
          </p:cNvPr>
          <p:cNvSpPr>
            <a:spLocks noGrp="1"/>
          </p:cNvSpPr>
          <p:nvPr/>
        </p:nvSpPr>
        <p:spPr>
          <a:xfrm>
            <a:off x="4095750" y="3648075"/>
            <a:ext cx="73342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Membantu pengelolaan data buku dan pengguna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A55744E-A4B9-4E2E-9456-E319F2F5A34C}"/>
              </a:ext>
            </a:extLst>
          </p:cNvPr>
          <p:cNvSpPr>
            <a:spLocks noGrp="1"/>
          </p:cNvSpPr>
          <p:nvPr/>
        </p:nvSpPr>
        <p:spPr>
          <a:xfrm>
            <a:off x="4095750" y="4086225"/>
            <a:ext cx="7334250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Menyediakan insight terkait buku populer</a:t>
            </a:r>
          </a:p>
        </p:txBody>
      </p:sp>
      <p:sp>
        <p:nvSpPr>
          <p:cNvPr id="14" name="rule">
            <a:extLst>
              <a:ext uri="{FF2B5EF4-FFF2-40B4-BE49-F238E27FC236}">
                <a16:creationId xmlns:a16="http://schemas.microsoft.com/office/drawing/2014/main" id="{22A63759-7AB7-4700-9F6E-35E8E006C545}"/>
              </a:ext>
            </a:extLst>
          </p:cNvPr>
          <p:cNvSpPr>
            <a:spLocks noGrp="1"/>
          </p:cNvSpPr>
          <p:nvPr/>
        </p:nvSpPr>
        <p:spPr>
          <a:xfrm>
            <a:off x="609600" y="46196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79E3A2B3-08FF-4ADB-9447-9A3032311ECD}"/>
              </a:ext>
            </a:extLst>
          </p:cNvPr>
          <p:cNvSpPr>
            <a:spLocks noGrp="1"/>
          </p:cNvSpPr>
          <p:nvPr/>
        </p:nvSpPr>
        <p:spPr>
          <a:xfrm>
            <a:off x="609600" y="4791075"/>
            <a:ext cx="3000375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0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Pengembangan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4D57E862-6EE0-45BC-B7EC-B12188FFD064}"/>
              </a:ext>
            </a:extLst>
          </p:cNvPr>
          <p:cNvSpPr>
            <a:spLocks noGrp="1"/>
          </p:cNvSpPr>
          <p:nvPr/>
        </p:nvSpPr>
        <p:spPr>
          <a:xfrm>
            <a:off x="4095750" y="4791075"/>
            <a:ext cx="7334250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Meningkatkan engagement pengguna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8F28BA9-A235-4B36-A343-23312A49DD7D}"/>
              </a:ext>
            </a:extLst>
          </p:cNvPr>
          <p:cNvSpPr>
            <a:spLocks noGrp="1"/>
          </p:cNvSpPr>
          <p:nvPr/>
        </p:nvSpPr>
        <p:spPr>
          <a:xfrm>
            <a:off x="4095750" y="5229225"/>
            <a:ext cx="7334250" cy="47625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8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Membuka peluang integrasi sistem perpustakaan digital</a:t>
            </a:r>
          </a:p>
        </p:txBody>
      </p:sp>
      <p:sp>
        <p:nvSpPr>
          <p:cNvPr id="18" name="rule">
            <a:extLst>
              <a:ext uri="{FF2B5EF4-FFF2-40B4-BE49-F238E27FC236}">
                <a16:creationId xmlns:a16="http://schemas.microsoft.com/office/drawing/2014/main" id="{C5B719DD-5C56-43A3-9EC2-1556E727F080}"/>
              </a:ext>
            </a:extLst>
          </p:cNvPr>
          <p:cNvSpPr>
            <a:spLocks noGrp="1"/>
          </p:cNvSpPr>
          <p:nvPr/>
        </p:nvSpPr>
        <p:spPr>
          <a:xfrm>
            <a:off x="609600" y="57626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59076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kicker-marker">
            <a:extLst>
              <a:ext uri="{FF2B5EF4-FFF2-40B4-BE49-F238E27FC236}">
                <a16:creationId xmlns:a16="http://schemas.microsoft.com/office/drawing/2014/main" id="{AEAC0C1D-4CBB-4B70-A8D4-D8B9706BA3F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90F34EEF-B082-4C12-B7B2-457313CA128E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PENUTUP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29717ED6-9F6D-4BB3-8980-515AD92E91EB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16406E9F-FA77-4779-AC0D-25F78A2CBEAA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10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9CC2ECEE-B732-4046-AD84-05A7498906D0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61460CD-F7B0-48A2-A576-CB84444D7D7E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952500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2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t>NexRead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F2CE2C3-627B-4641-BA3D-8C9C609610B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6953250" cy="19050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57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t>Find your next great read.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CCD5BD84-43D5-44B7-ACD8-7C0F3E011FA0}"/>
              </a:ext>
            </a:extLst>
          </p:cNvPr>
          <p:cNvSpPr>
            <a:spLocks noGrp="1"/>
          </p:cNvSpPr>
          <p:nvPr/>
        </p:nvSpPr>
        <p:spPr>
          <a:xfrm>
            <a:off x="7905750" y="1885950"/>
            <a:ext cx="3476625" cy="1066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menjadikan pengalaman perpustakaan lebih sederhana dan terhubung.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C33F5A7-11B8-4FCA-AA05-5786BA5DD2C8}"/>
              </a:ext>
            </a:extLst>
          </p:cNvPr>
          <p:cNvSpPr>
            <a:spLocks noGrp="1"/>
          </p:cNvSpPr>
          <p:nvPr/>
        </p:nvSpPr>
        <p:spPr>
          <a:xfrm>
            <a:off x="7905750" y="3124200"/>
            <a:ext cx="3476625" cy="1066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Dari mencari buku hingga mengelola peminjaman, semuanya berada dalam satu platform.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478E733-2072-4491-AF0F-D055AC88FE79}"/>
              </a:ext>
            </a:extLst>
          </p:cNvPr>
          <p:cNvSpPr>
            <a:spLocks noGrp="1"/>
          </p:cNvSpPr>
          <p:nvPr/>
        </p:nvSpPr>
        <p:spPr>
          <a:xfrm>
            <a:off x="7905750" y="4362450"/>
            <a:ext cx="3476625" cy="1066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725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Kami percaya teknologi dapat membuat lebih banyak orang membaca.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A9592EE3-1A07-4F24-84D3-3662315712A3}"/>
              </a:ext>
            </a:extLst>
          </p:cNvPr>
          <p:cNvSpPr>
            <a:spLocks noGrp="1"/>
          </p:cNvSpPr>
          <p:nvPr/>
        </p:nvSpPr>
        <p:spPr>
          <a:xfrm>
            <a:off x="609600" y="4991100"/>
            <a:ext cx="661987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t>Teknologi untuk lebih banyak pembaca.</a:t>
            </a:r>
          </a:p>
        </p:txBody>
      </p:sp>
    </p:spTree>
    <p:extLst>
      <p:ext uri="{BB962C8B-B14F-4D97-AF65-F5344CB8AC3E}">
        <p14:creationId xmlns:p14="http://schemas.microsoft.com/office/powerpoint/2010/main" val="145216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kicker-marker">
            <a:extLst>
              <a:ext uri="{FF2B5EF4-FFF2-40B4-BE49-F238E27FC236}">
                <a16:creationId xmlns:a16="http://schemas.microsoft.com/office/drawing/2014/main" id="{AEAC0C1D-4CBB-4B70-A8D4-D8B9706BA3F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76200" cy="76200"/>
          </a:xfrm>
          <a:prstGeom prst="rect">
            <a:avLst/>
          </a:prstGeom>
          <a:solidFill>
            <a:srgbClr val="4DDEFF"/>
          </a:solidFill>
          <a:ln w="0">
            <a:noFill/>
            <a:prstDash val="solid"/>
          </a:ln>
        </p:spPr>
      </p:sp>
      <p:sp>
        <p:nvSpPr>
          <p:cNvPr id="2" name="kicker-label">
            <a:extLst>
              <a:ext uri="{FF2B5EF4-FFF2-40B4-BE49-F238E27FC236}">
                <a16:creationId xmlns:a16="http://schemas.microsoft.com/office/drawing/2014/main" id="{90F34EEF-B082-4C12-B7B2-457313CA128E}"/>
              </a:ext>
            </a:extLst>
          </p:cNvPr>
          <p:cNvSpPr>
            <a:spLocks noGrp="1"/>
          </p:cNvSpPr>
          <p:nvPr/>
        </p:nvSpPr>
        <p:spPr>
          <a:xfrm>
            <a:off x="800100" y="342900"/>
            <a:ext cx="10287000" cy="2667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10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rPr lang="en-US" dirty="0"/>
              <a:t>ACKNOWLEDGEMENT</a:t>
            </a:r>
            <a:endParaRPr dirty="0"/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29717ED6-9F6D-4BB3-8980-515AD92E91EB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857250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NEXREAD  /  PRODUCT PITCH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16406E9F-FA77-4779-AC0D-25F78A2CBEAA}"/>
              </a:ext>
            </a:extLst>
          </p:cNvPr>
          <p:cNvSpPr>
            <a:spLocks noGrp="1"/>
          </p:cNvSpPr>
          <p:nvPr/>
        </p:nvSpPr>
        <p:spPr>
          <a:xfrm>
            <a:off x="10572750" y="6419850"/>
            <a:ext cx="1047750" cy="1905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900" b="0">
                <a:solidFill>
                  <a:srgbClr val="B7C0D9"/>
                </a:solidFill>
                <a:latin typeface="Arial"/>
                <a:ea typeface="Arial"/>
                <a:cs typeface="Arial"/>
              </a:defRPr>
            </a:pPr>
            <a:r>
              <a:t>10 / 10</a:t>
            </a: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9CC2ECEE-B732-4046-AD84-05A7498906D0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10972800" cy="9525"/>
          </a:xfrm>
          <a:prstGeom prst="rect">
            <a:avLst/>
          </a:prstGeom>
          <a:solidFill>
            <a:srgbClr val="293349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61460CD-F7B0-48A2-A576-CB84444D7D7E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9525000" cy="4953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250" b="1">
                <a:solidFill>
                  <a:srgbClr val="4DDEFF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NexRead</a:t>
            </a:r>
            <a:endParaRPr dirty="0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F2CE2C3-627B-4641-BA3D-8C9C609610B7}"/>
              </a:ext>
            </a:extLst>
          </p:cNvPr>
          <p:cNvSpPr>
            <a:spLocks noGrp="1"/>
          </p:cNvSpPr>
          <p:nvPr/>
        </p:nvSpPr>
        <p:spPr>
          <a:xfrm>
            <a:off x="609600" y="2394860"/>
            <a:ext cx="6953250" cy="19050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570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lang="en-US" dirty="0"/>
              <a:t>LINK APLIKASI</a:t>
            </a:r>
            <a:endParaRPr dirty="0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CCD5BD84-43D5-44B7-ACD8-7C0F3E011FA0}"/>
              </a:ext>
            </a:extLst>
          </p:cNvPr>
          <p:cNvSpPr>
            <a:spLocks noGrp="1"/>
          </p:cNvSpPr>
          <p:nvPr/>
        </p:nvSpPr>
        <p:spPr>
          <a:xfrm>
            <a:off x="6221186" y="1198788"/>
            <a:ext cx="4980895" cy="2373088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lnSpc>
                <a:spcPct val="150000"/>
              </a:lnSpc>
            </a:pPr>
            <a:r>
              <a:rPr lang="en-US" sz="1730" dirty="0">
                <a:solidFill>
                  <a:srgbClr val="4CD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Front End 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Live Website : 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https://nexread.ai-novanx.online/</a:t>
            </a:r>
            <a:endParaRPr lang="en-US" sz="173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3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Repository :  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https://github.com/Revou-FSSE-Feb26/crack-fe-AI-NovaNX</a:t>
            </a:r>
            <a:endParaRPr lang="en-US" sz="173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C33F5A7-11B8-4FCA-AA05-5786BA5DD2C8}"/>
              </a:ext>
            </a:extLst>
          </p:cNvPr>
          <p:cNvSpPr>
            <a:spLocks noGrp="1"/>
          </p:cNvSpPr>
          <p:nvPr/>
        </p:nvSpPr>
        <p:spPr>
          <a:xfrm>
            <a:off x="6221186" y="3762376"/>
            <a:ext cx="4980895" cy="2266949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lnSpc>
                <a:spcPct val="150000"/>
              </a:lnSpc>
            </a:pPr>
            <a:r>
              <a:rPr lang="en-US" sz="1730" dirty="0">
                <a:solidFill>
                  <a:srgbClr val="4CD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 End 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Live Website (Swagger) : 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https://crack-be-ai-novanx-staging.up.railway.app/api#/</a:t>
            </a:r>
            <a:endParaRPr lang="en-US" sz="173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3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Repository : </a:t>
            </a:r>
            <a:r>
              <a:rPr lang="en-US" sz="173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https://github.com/Revou-FSSE-Feb26/crack-be-AI-NovaNX</a:t>
            </a:r>
            <a:endParaRPr lang="en-US" sz="173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A9592EE3-1A07-4F24-84D3-3662315712A3}"/>
              </a:ext>
            </a:extLst>
          </p:cNvPr>
          <p:cNvSpPr>
            <a:spLocks noGrp="1"/>
          </p:cNvSpPr>
          <p:nvPr/>
        </p:nvSpPr>
        <p:spPr>
          <a:xfrm>
            <a:off x="609600" y="4991100"/>
            <a:ext cx="6619875" cy="68580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defRPr sz="2175" b="1">
                <a:solidFill>
                  <a:srgbClr val="A995FF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Teknologi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</a:t>
            </a:r>
            <a:r>
              <a:rPr dirty="0" err="1"/>
              <a:t>lebih</a:t>
            </a:r>
            <a:r>
              <a:rPr dirty="0"/>
              <a:t> </a:t>
            </a:r>
            <a:r>
              <a:rPr dirty="0" err="1"/>
              <a:t>banyak</a:t>
            </a:r>
            <a:r>
              <a:rPr dirty="0"/>
              <a:t> </a:t>
            </a:r>
            <a:r>
              <a:rPr dirty="0" err="1"/>
              <a:t>pembaca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96022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590</Words>
  <Application>Microsoft Macintosh PowerPoint</Application>
  <DocSecurity>0</DocSecurity>
  <PresentationFormat>Widescreen</PresentationFormat>
  <Paragraphs>143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Farrel Jonathan</cp:lastModifiedBy>
  <cp:revision>4</cp:revision>
  <dcterms:created xsi:type="dcterms:W3CDTF">2026-09-08T12:42:39Z</dcterms:created>
  <dcterms:modified xsi:type="dcterms:W3CDTF">2026-09-18T15:33:33Z</dcterms:modified>
</cp:coreProperties>
</file>